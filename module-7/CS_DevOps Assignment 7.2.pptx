
<file path=[Content_Types].xml><?xml version="1.0" encoding="utf-8"?>
<Types xmlns="http://schemas.openxmlformats.org/package/2006/content-types">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3"/>
  </p:notesMasterIdLst>
  <p:handoutMasterIdLst>
    <p:handoutMasterId r:id="rId14"/>
  </p:handoutMasterIdLst>
  <p:sldIdLst>
    <p:sldId id="258" r:id="rId5"/>
    <p:sldId id="260" r:id="rId6"/>
    <p:sldId id="262" r:id="rId7"/>
    <p:sldId id="263" r:id="rId8"/>
    <p:sldId id="266" r:id="rId9"/>
    <p:sldId id="264" r:id="rId10"/>
    <p:sldId id="265"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howGuides="1">
      <p:cViewPr varScale="1">
        <p:scale>
          <a:sx n="84" d="100"/>
          <a:sy n="84" d="100"/>
        </p:scale>
        <p:origin x="658" y="72"/>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7/12/2026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7/12/2026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7/12/2026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7/12/2026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7/12/2026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7/12/2026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7/12/2026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7/12/2026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7/12/2026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7/12/2026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7/12/2026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7/12/2026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7/12/2026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7/12/2026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7/12/2026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7/12/2026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7/12/2026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7/12/2026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7/12/2026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7/12/2026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7/12/2026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7/12/2026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7/12/2026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7/12/2026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7/12/2026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7/12/2026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7/12/2026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7/12/2026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7/12/2026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7/12/2026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7/12/2026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7/12/2026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7/12/2026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7/12/2026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7/12/2026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7/12/2026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7/12/2026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7/12/2026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7/12/2026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7/12/2026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7/12/2026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7/12/2026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7/12/2026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7/12/2026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7/12/2026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7/12/2026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7/12/2026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7/12/2026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7/12/2026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7/12/2026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7/12/2026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7/12/2026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hyperlink" Target="https://firehydrant.com/blog/best-practices-for-creating-on-call-rotations-and-schedules/" TargetMode="External"/><Relationship Id="rId2" Type="http://schemas.openxmlformats.org/officeDocument/2006/relationships/hyperlink" Target="https://devops.com/on-call-rotation-best-practices-reducing-burnout-and-improving-response/" TargetMode="Externa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pPr algn="ctr"/>
            <a:r>
              <a:rPr lang="en-US" sz="8000" dirty="0">
                <a:latin typeface="Times New Roman" panose="02020603050405020304" pitchFamily="18" charset="0"/>
                <a:cs typeface="Times New Roman" panose="02020603050405020304" pitchFamily="18" charset="0"/>
              </a:rPr>
              <a:t>Paper Routine Practices</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a:xfrm>
            <a:off x="609598" y="5105400"/>
            <a:ext cx="9144001" cy="1752600"/>
          </a:xfrm>
        </p:spPr>
        <p:txBody>
          <a:bodyPr>
            <a:noAutofit/>
          </a:bodyPr>
          <a:lstStyle/>
          <a:p>
            <a:pPr algn="ctr"/>
            <a:r>
              <a:rPr lang="en-US" sz="3200" dirty="0">
                <a:latin typeface="Times New Roman" panose="02020603050405020304" pitchFamily="18" charset="0"/>
                <a:cs typeface="Times New Roman" panose="02020603050405020304" pitchFamily="18" charset="0"/>
              </a:rPr>
              <a:t>By Colton Stone</a:t>
            </a:r>
          </a:p>
          <a:p>
            <a:pPr algn="ctr"/>
            <a:r>
              <a:rPr lang="en-US" sz="3200" dirty="0">
                <a:latin typeface="Times New Roman" panose="02020603050405020304" pitchFamily="18" charset="0"/>
                <a:cs typeface="Times New Roman" panose="02020603050405020304" pitchFamily="18" charset="0"/>
              </a:rPr>
              <a:t>Assignment 7.2</a:t>
            </a:r>
          </a:p>
          <a:p>
            <a:pPr algn="ctr"/>
            <a:r>
              <a:rPr lang="en-US" sz="3200" dirty="0">
                <a:latin typeface="Times New Roman" panose="02020603050405020304" pitchFamily="18" charset="0"/>
                <a:cs typeface="Times New Roman" panose="02020603050405020304" pitchFamily="18" charset="0"/>
              </a:rPr>
              <a:t>July 12, 2026</a:t>
            </a:r>
          </a:p>
          <a:p>
            <a:pPr algn="ct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AD1E-4B60-258B-A418-0108EE23B1D2}"/>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What is Paper Rotation?</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581975-7EC1-A46C-AAAA-ADCD8AB0FD74}"/>
              </a:ext>
            </a:extLst>
          </p:cNvPr>
          <p:cNvSpPr>
            <a:spLocks noGrp="1"/>
          </p:cNvSpPr>
          <p:nvPr>
            <p:ph sz="quarter" idx="13"/>
          </p:nvPr>
        </p:nvSpPr>
        <p:spPr>
          <a:xfrm>
            <a:off x="609600" y="2971800"/>
            <a:ext cx="10972800" cy="4191000"/>
          </a:xfrm>
        </p:spPr>
        <p:txBody>
          <a:bodyPr/>
          <a:lstStyle/>
          <a:p>
            <a:pPr>
              <a:lnSpc>
                <a:spcPct val="200000"/>
              </a:lnSpc>
            </a:pPr>
            <a:r>
              <a:rPr lang="en-US" sz="2000" dirty="0">
                <a:latin typeface="Times New Roman" panose="02020603050405020304" pitchFamily="18" charset="0"/>
                <a:cs typeface="Times New Roman" panose="02020603050405020304" pitchFamily="18" charset="0"/>
              </a:rPr>
              <a:t>“Paper rotation duties” or “on-call rotation” as described in the “The DevOps Handbook” refers to the practice of a placing a software team’s developers, developmental managers, architects, and any other figures directly involved in a project’s creation in a cycle in which all team members will share the responsibility of fixing obstacles when they occur in the assignment</a:t>
            </a:r>
          </a:p>
          <a:p>
            <a:pPr>
              <a:lnSpc>
                <a:spcPct val="200000"/>
              </a:lnSpc>
            </a:pPr>
            <a:r>
              <a:rPr lang="en-US" sz="2000" dirty="0">
                <a:latin typeface="Times New Roman" panose="02020603050405020304" pitchFamily="18" charset="0"/>
                <a:cs typeface="Times New Roman" panose="02020603050405020304" pitchFamily="18" charset="0"/>
              </a:rPr>
              <a:t>(Kim et al, 2021).</a:t>
            </a:r>
          </a:p>
          <a:p>
            <a:pPr>
              <a:lnSpc>
                <a:spcPct val="2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357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755C5-D203-C646-8033-17F9AF171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ECD4F-C8CC-7B5C-E86B-B7FD2F49099A}"/>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The Purpose of Paper Rotation</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26E430-76AD-A9AC-3729-77BA85380824}"/>
              </a:ext>
            </a:extLst>
          </p:cNvPr>
          <p:cNvSpPr>
            <a:spLocks noGrp="1"/>
          </p:cNvSpPr>
          <p:nvPr>
            <p:ph sz="quarter" idx="13"/>
          </p:nvPr>
        </p:nvSpPr>
        <p:spPr>
          <a:xfrm>
            <a:off x="609600" y="2971800"/>
            <a:ext cx="10972800" cy="4191000"/>
          </a:xfrm>
        </p:spPr>
        <p:txBody>
          <a:bodyPr/>
          <a:lstStyle/>
          <a:p>
            <a:pPr>
              <a:lnSpc>
                <a:spcPct val="200000"/>
              </a:lnSpc>
            </a:pPr>
            <a:r>
              <a:rPr lang="en-US" sz="2000" dirty="0">
                <a:latin typeface="Times New Roman" panose="02020603050405020304" pitchFamily="18" charset="0"/>
                <a:cs typeface="Times New Roman" panose="02020603050405020304" pitchFamily="18" charset="0"/>
              </a:rPr>
              <a:t>Kim describes that this method has become preferred by most companies over having a dedicated on-call team because instead of placing stress on a single group of people to be constantly available to fix project or customer issues, this style of rotation has everyone whose job involves interacting with the code accessible at all times and able to help one another</a:t>
            </a:r>
          </a:p>
        </p:txBody>
      </p:sp>
    </p:spTree>
    <p:extLst>
      <p:ext uri="{BB962C8B-B14F-4D97-AF65-F5344CB8AC3E}">
        <p14:creationId xmlns:p14="http://schemas.microsoft.com/office/powerpoint/2010/main" val="2818803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1C58F-16FE-0163-60BE-47A1D3043C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1EA0D-05B8-8AD9-9CD0-E9FEC8647C6F}"/>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The Purpose of Paper Rotation (Cont.)</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8E2D74-C629-22AE-D6EF-07F4087DA00E}"/>
              </a:ext>
            </a:extLst>
          </p:cNvPr>
          <p:cNvSpPr>
            <a:spLocks noGrp="1"/>
          </p:cNvSpPr>
          <p:nvPr>
            <p:ph sz="quarter" idx="13"/>
          </p:nvPr>
        </p:nvSpPr>
        <p:spPr>
          <a:xfrm>
            <a:off x="609600" y="2895600"/>
            <a:ext cx="10972800" cy="4191000"/>
          </a:xfrm>
        </p:spPr>
        <p:txBody>
          <a:bodyPr/>
          <a:lstStyle/>
          <a:p>
            <a:pPr>
              <a:lnSpc>
                <a:spcPct val="200000"/>
              </a:lnSpc>
            </a:pPr>
            <a:r>
              <a:rPr lang="en-US" sz="2000" dirty="0">
                <a:latin typeface="Times New Roman" panose="02020603050405020304" pitchFamily="18" charset="0"/>
                <a:cs typeface="Times New Roman" panose="02020603050405020304" pitchFamily="18" charset="0"/>
              </a:rPr>
              <a:t> An article that I linked from ‘FireHydrant.com’ goes into further detail on the importance of a team having an on-call rotation for customer support with the authors citing a figure which states that not having employees available to fix sudden problems has costed North American information technology companies an estimated 700 billion dollars annually, with this affecting both larger and smaller scale businesses</a:t>
            </a:r>
          </a:p>
          <a:p>
            <a:r>
              <a:rPr lang="en-US" sz="2000" dirty="0">
                <a:latin typeface="Times New Roman" panose="02020603050405020304" pitchFamily="18" charset="0"/>
                <a:cs typeface="Times New Roman" panose="02020603050405020304" pitchFamily="18" charset="0"/>
              </a:rPr>
              <a:t>(Kim et al, 2021; Firehydrant.com, 2024).</a:t>
            </a:r>
          </a:p>
          <a:p>
            <a:pPr>
              <a:lnSpc>
                <a:spcPct val="2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1193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A6A1-9F32-F3CA-1F8C-5002B7B44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828BD-8CDC-B2D6-93EC-D577D5DAD653}"/>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How to setup a Rotation schedule</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482738-36A1-75DB-5844-31E5D2A8E382}"/>
              </a:ext>
            </a:extLst>
          </p:cNvPr>
          <p:cNvSpPr>
            <a:spLocks noGrp="1"/>
          </p:cNvSpPr>
          <p:nvPr>
            <p:ph sz="quarter" idx="13"/>
          </p:nvPr>
        </p:nvSpPr>
        <p:spPr>
          <a:xfrm>
            <a:off x="591312" y="1066800"/>
            <a:ext cx="10972800" cy="5410200"/>
          </a:xfrm>
        </p:spPr>
        <p:txBody>
          <a:bodyPr/>
          <a:lstStyle/>
          <a:p>
            <a:pPr>
              <a:lnSpc>
                <a:spcPct val="200000"/>
              </a:lnSpc>
            </a:pPr>
            <a:r>
              <a:rPr lang="en-US" sz="2000" dirty="0">
                <a:latin typeface="Times New Roman" panose="02020603050405020304" pitchFamily="18" charset="0"/>
                <a:cs typeface="Times New Roman" panose="02020603050405020304" pitchFamily="18" charset="0"/>
              </a:rPr>
              <a:t>The procedure for making an on-call schedule depends on the size of your team, if all members are in the same location or not, and the typical amount of work which they will be expected to cover per week</a:t>
            </a:r>
          </a:p>
          <a:p>
            <a:pPr>
              <a:lnSpc>
                <a:spcPct val="200000"/>
              </a:lnSpc>
            </a:pPr>
            <a:endParaRPr lang="en-US" sz="2000" dirty="0">
              <a:latin typeface="Times New Roman" panose="02020603050405020304" pitchFamily="18" charset="0"/>
              <a:cs typeface="Times New Roman" panose="02020603050405020304" pitchFamily="18" charset="0"/>
            </a:endParaRPr>
          </a:p>
          <a:p>
            <a:pPr>
              <a:lnSpc>
                <a:spcPct val="200000"/>
              </a:lnSpc>
            </a:pPr>
            <a:r>
              <a:rPr lang="en-US" sz="2000" dirty="0">
                <a:latin typeface="Times New Roman" panose="02020603050405020304" pitchFamily="18" charset="0"/>
                <a:cs typeface="Times New Roman" panose="02020603050405020304" pitchFamily="18" charset="0"/>
              </a:rPr>
              <a:t>With smaller teams a standard weekly schedule or alternating one is recommended</a:t>
            </a:r>
          </a:p>
          <a:p>
            <a:pPr>
              <a:lnSpc>
                <a:spcPct val="200000"/>
              </a:lnSpc>
            </a:pPr>
            <a:r>
              <a:rPr lang="en-US" sz="2000" dirty="0">
                <a:latin typeface="Times New Roman" panose="02020603050405020304" pitchFamily="18" charset="0"/>
                <a:cs typeface="Times New Roman" panose="02020603050405020304" pitchFamily="18" charset="0"/>
              </a:rPr>
              <a:t>For larger teams you can implement semimonthly schedules where members will rotate based on their role or use week/weekend schedules where employees can decide to work either Mon-</a:t>
            </a:r>
            <a:r>
              <a:rPr lang="en-US" sz="2000" dirty="0" err="1">
                <a:latin typeface="Times New Roman" panose="02020603050405020304" pitchFamily="18" charset="0"/>
                <a:cs typeface="Times New Roman" panose="02020603050405020304" pitchFamily="18" charset="0"/>
              </a:rPr>
              <a:t>Thur</a:t>
            </a:r>
            <a:r>
              <a:rPr lang="en-US" sz="2000" dirty="0">
                <a:latin typeface="Times New Roman" panose="02020603050405020304" pitchFamily="18" charset="0"/>
                <a:cs typeface="Times New Roman" panose="02020603050405020304" pitchFamily="18" charset="0"/>
              </a:rPr>
              <a:t> shifts or Fri-Sun shifts</a:t>
            </a:r>
          </a:p>
          <a:p>
            <a:pPr>
              <a:lnSpc>
                <a:spcPct val="200000"/>
              </a:lnSpc>
            </a:pPr>
            <a:r>
              <a:rPr lang="en-US" sz="2000" dirty="0">
                <a:latin typeface="Times New Roman" panose="02020603050405020304" pitchFamily="18" charset="0"/>
                <a:cs typeface="Times New Roman" panose="02020603050405020304" pitchFamily="18" charset="0"/>
              </a:rPr>
              <a:t>(Firehydrant.com, 2024; Shah, 2026).</a:t>
            </a:r>
          </a:p>
          <a:p>
            <a:pPr>
              <a:lnSpc>
                <a:spcPct val="2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453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0B649-0853-A42A-C4F7-DA46168D6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85F30-F1CC-D159-B814-9562C2984C81}"/>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Paper Rotation Practices</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B34C61-D9D3-9BD1-7EE9-209893CE6829}"/>
              </a:ext>
            </a:extLst>
          </p:cNvPr>
          <p:cNvSpPr>
            <a:spLocks noGrp="1"/>
          </p:cNvSpPr>
          <p:nvPr>
            <p:ph sz="quarter" idx="13"/>
          </p:nvPr>
        </p:nvSpPr>
        <p:spPr>
          <a:xfrm>
            <a:off x="609600" y="1447800"/>
            <a:ext cx="10972800" cy="5715000"/>
          </a:xfrm>
        </p:spPr>
        <p:txBody>
          <a:bodyPr/>
          <a:lstStyle/>
          <a:p>
            <a:pPr>
              <a:lnSpc>
                <a:spcPct val="200000"/>
              </a:lnSpc>
            </a:pPr>
            <a:r>
              <a:rPr lang="en-US" sz="2000" dirty="0">
                <a:latin typeface="Times New Roman" panose="02020603050405020304" pitchFamily="18" charset="0"/>
                <a:cs typeface="Times New Roman" panose="02020603050405020304" pitchFamily="18" charset="0"/>
              </a:rPr>
              <a:t>When overseeing the process of creating an on-call rotation you need to ensure that you are using practices to support your employees </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First you should establish communication with them as early as possible and make sure that everyone in the group is involved in the scheduling process so that all participants understand their work hours as well as can give feedback on which time frames will work best for them</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Next clearly distinguish which situations are important enough and which ones are not to warrant calling employees in to work during their off-time to avoid overloading them</a:t>
            </a:r>
          </a:p>
        </p:txBody>
      </p:sp>
    </p:spTree>
    <p:extLst>
      <p:ext uri="{BB962C8B-B14F-4D97-AF65-F5344CB8AC3E}">
        <p14:creationId xmlns:p14="http://schemas.microsoft.com/office/powerpoint/2010/main" val="1407757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99B5A-3AF4-7CA5-3659-E1250696A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C2B52-2B22-98BD-71F4-78E46A87CF11}"/>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Paper Rotation Practices (Cont.)</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5138B6-81A8-598D-1DD7-F187A5AC534A}"/>
              </a:ext>
            </a:extLst>
          </p:cNvPr>
          <p:cNvSpPr>
            <a:spLocks noGrp="1"/>
          </p:cNvSpPr>
          <p:nvPr>
            <p:ph sz="quarter" idx="13"/>
          </p:nvPr>
        </p:nvSpPr>
        <p:spPr>
          <a:xfrm>
            <a:off x="609600" y="1066800"/>
            <a:ext cx="10972800" cy="5791200"/>
          </a:xfrm>
        </p:spPr>
        <p:txBody>
          <a:bodyPr/>
          <a:lstStyle/>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FireHydrant.com recommends avoiding having employees work the night shift unless necessary or they specifically request it as well as require the employees who are scheduled to work on-call duty to have lighter workloads during their regular work hours to place less strain on them</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Automate on-call work as much as possible to reduce the burden on workers and make the process of solving problems more seamless for them</a:t>
            </a:r>
          </a:p>
          <a:p>
            <a:pPr marL="342900" indent="-3429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And lastly establish to your workers that they should feel comfortable asking for support with difficult work or flexibility with their schedule in case of unexpected events </a:t>
            </a:r>
          </a:p>
          <a:p>
            <a:pPr>
              <a:lnSpc>
                <a:spcPct val="200000"/>
              </a:lnSpc>
            </a:pPr>
            <a:r>
              <a:rPr lang="en-US" sz="2000" dirty="0">
                <a:latin typeface="Times New Roman" panose="02020603050405020304" pitchFamily="18" charset="0"/>
                <a:cs typeface="Times New Roman" panose="02020603050405020304" pitchFamily="18" charset="0"/>
              </a:rPr>
              <a:t>(Firehydrant.com, 2024; Shah, 2026).</a:t>
            </a:r>
          </a:p>
          <a:p>
            <a:pPr>
              <a:lnSpc>
                <a:spcPct val="200000"/>
              </a:lnSpc>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dirty="0"/>
              <a:t>  </a:t>
            </a:r>
          </a:p>
          <a:p>
            <a:endParaRPr lang="en-US" dirty="0"/>
          </a:p>
        </p:txBody>
      </p:sp>
    </p:spTree>
    <p:extLst>
      <p:ext uri="{BB962C8B-B14F-4D97-AF65-F5344CB8AC3E}">
        <p14:creationId xmlns:p14="http://schemas.microsoft.com/office/powerpoint/2010/main" val="1358948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E76D1-F847-24B7-D217-27ED502F5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F6D3F-9688-CEBC-4053-5F4A16C023DF}"/>
              </a:ext>
            </a:extLst>
          </p:cNvPr>
          <p:cNvSpPr>
            <a:spLocks noGrp="1"/>
          </p:cNvSpPr>
          <p:nvPr>
            <p:ph type="title"/>
          </p:nvPr>
        </p:nvSpPr>
        <p:spPr>
          <a:xfrm>
            <a:off x="609600" y="76200"/>
            <a:ext cx="10972800" cy="1371600"/>
          </a:xfrm>
        </p:spPr>
        <p:txBody>
          <a:bodyPr/>
          <a:lstStyle/>
          <a:p>
            <a:pPr algn="ctr"/>
            <a:r>
              <a:rPr lang="en-US" sz="4000" dirty="0">
                <a:latin typeface="Times New Roman" panose="02020603050405020304" pitchFamily="18" charset="0"/>
                <a:cs typeface="Times New Roman" panose="02020603050405020304" pitchFamily="18" charset="0"/>
              </a:rPr>
              <a:t>Citations</a:t>
            </a:r>
          </a:p>
        </p:txBody>
      </p:sp>
      <p:sp>
        <p:nvSpPr>
          <p:cNvPr id="3" name="Content Placeholder 2">
            <a:extLst>
              <a:ext uri="{FF2B5EF4-FFF2-40B4-BE49-F238E27FC236}">
                <a16:creationId xmlns:a16="http://schemas.microsoft.com/office/drawing/2014/main" id="{45E39FE7-E084-CB2F-4C11-7E67DD83F224}"/>
              </a:ext>
            </a:extLst>
          </p:cNvPr>
          <p:cNvSpPr>
            <a:spLocks noGrp="1"/>
          </p:cNvSpPr>
          <p:nvPr>
            <p:ph sz="quarter" idx="13"/>
          </p:nvPr>
        </p:nvSpPr>
        <p:spPr>
          <a:xfrm>
            <a:off x="304800" y="1600200"/>
            <a:ext cx="10972800" cy="3962400"/>
          </a:xfrm>
        </p:spPr>
        <p:txBody>
          <a:bodyPr/>
          <a:lstStyle/>
          <a:p>
            <a:r>
              <a:rPr lang="en-US" sz="2000" dirty="0">
                <a:latin typeface="Times New Roman" panose="02020603050405020304" pitchFamily="18" charset="0"/>
                <a:cs typeface="Times New Roman" panose="02020603050405020304" pitchFamily="18" charset="0"/>
              </a:rPr>
              <a:t>Shah, N. (2026, March 6).</a:t>
            </a:r>
          </a:p>
          <a:p>
            <a:r>
              <a:rPr lang="en-US" sz="2000" b="1" i="1" dirty="0">
                <a:latin typeface="Times New Roman" panose="02020603050405020304" pitchFamily="18" charset="0"/>
                <a:cs typeface="Times New Roman" panose="02020603050405020304" pitchFamily="18" charset="0"/>
              </a:rPr>
              <a:t>On-Call Rotation Best Practices: Reducing Burnout and Improving Response </a:t>
            </a:r>
            <a:endParaRPr lang="en-US" sz="2000" dirty="0">
              <a:latin typeface="Times New Roman" panose="02020603050405020304" pitchFamily="18" charset="0"/>
              <a:cs typeface="Times New Roman" panose="02020603050405020304" pitchFamily="18" charset="0"/>
            </a:endParaRPr>
          </a:p>
          <a:p>
            <a:r>
              <a:rPr lang="en-US" sz="2000" u="sng" dirty="0">
                <a:latin typeface="Times New Roman" panose="02020603050405020304" pitchFamily="18" charset="0"/>
                <a:cs typeface="Times New Roman" panose="02020603050405020304" pitchFamily="18" charset="0"/>
                <a:hlinkClick r:id="rId2"/>
              </a:rPr>
              <a:t>https://devops.com/on-call-rotation-best-practices-reducing-burnout-and-improving-response/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Firehydrant.com. (2024, August 13).</a:t>
            </a:r>
          </a:p>
          <a:p>
            <a:r>
              <a:rPr lang="en-US" sz="2000" b="1" i="1" dirty="0">
                <a:latin typeface="Times New Roman" panose="02020603050405020304" pitchFamily="18" charset="0"/>
                <a:cs typeface="Times New Roman" panose="02020603050405020304" pitchFamily="18" charset="0"/>
              </a:rPr>
              <a:t>Best Practices for Creating On-Call Rotations and Schedules</a:t>
            </a:r>
            <a:endParaRPr lang="en-US" sz="2000" dirty="0">
              <a:latin typeface="Times New Roman" panose="02020603050405020304" pitchFamily="18" charset="0"/>
              <a:cs typeface="Times New Roman" panose="02020603050405020304" pitchFamily="18" charset="0"/>
            </a:endParaRPr>
          </a:p>
          <a:p>
            <a:r>
              <a:rPr lang="en-US" sz="2000" u="sng" dirty="0">
                <a:latin typeface="Times New Roman" panose="02020603050405020304" pitchFamily="18" charset="0"/>
                <a:cs typeface="Times New Roman" panose="02020603050405020304" pitchFamily="18" charset="0"/>
                <a:hlinkClick r:id="rId3"/>
              </a:rPr>
              <a:t>https://firehydrant.com/blog/best-practices-for-creating-on-call-rotations-and-schedules/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Kim, Gene, et al. </a:t>
            </a:r>
            <a:r>
              <a:rPr lang="en-US" sz="2000" i="1" dirty="0">
                <a:latin typeface="Times New Roman" panose="02020603050405020304" pitchFamily="18" charset="0"/>
                <a:cs typeface="Times New Roman" panose="02020603050405020304" pitchFamily="18" charset="0"/>
              </a:rPr>
              <a:t>The DevOps Handbook, 2nd edition</a:t>
            </a:r>
            <a:r>
              <a:rPr lang="en-US" sz="2000" dirty="0">
                <a:latin typeface="Times New Roman" panose="02020603050405020304" pitchFamily="18" charset="0"/>
                <a:cs typeface="Times New Roman" panose="02020603050405020304" pitchFamily="18" charset="0"/>
              </a:rPr>
              <a:t>. IT Revolution, 2021.</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806643"/>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{BD04B5DF-8479-4FA0-884D-D878064BFEC7}0f45c1b8-b519-4737-8f12-a18148944ef7-TFfcaeb239-e0ad-43c4-9739-4084ddd7c62fe496f549_win32</Template>
  <TotalTime>75</TotalTime>
  <Words>654</Words>
  <Application>Microsoft Office PowerPoint</Application>
  <PresentationFormat>Widescreen</PresentationFormat>
  <Paragraphs>44</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Bahnschrift SemiLight</vt:lpstr>
      <vt:lpstr>Times New Roman</vt:lpstr>
      <vt:lpstr>Blockwork elegance</vt:lpstr>
      <vt:lpstr>Paper Routine Practices</vt:lpstr>
      <vt:lpstr>What is Paper Rotation? </vt:lpstr>
      <vt:lpstr>The Purpose of Paper Rotation </vt:lpstr>
      <vt:lpstr>The Purpose of Paper Rotation (Cont.) </vt:lpstr>
      <vt:lpstr>How to setup a Rotation schedule </vt:lpstr>
      <vt:lpstr>Paper Rotation Practices </vt:lpstr>
      <vt:lpstr>Paper Rotation Practices (Cont.) </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Colton</dc:creator>
  <cp:lastModifiedBy>Colton</cp:lastModifiedBy>
  <cp:revision>17</cp:revision>
  <dcterms:created xsi:type="dcterms:W3CDTF">2026-07-12T16:33:23Z</dcterms:created>
  <dcterms:modified xsi:type="dcterms:W3CDTF">2026-07-12T17:49:11Z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