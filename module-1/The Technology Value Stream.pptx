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9" r:id="rId3"/>
    <p:sldId id="262" r:id="rId4"/>
    <p:sldId id="263" r:id="rId5"/>
    <p:sldId id="261"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D1D1EADE-8E88-4C7C-8AC5-FB148DE4940E}" type="datetime1">
              <a:rPr lang="en-US" smtClean="0"/>
              <a:t>6/7/2026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Slide Number Placeholder 5"/>
          <p:cNvSpPr>
            <a:spLocks noGrp="1"/>
          </p:cNvSpPr>
          <p:nvPr>
            <p:ph type="sldNum" sz="quarter" idx="12"/>
          </p:nvPr>
        </p:nvSpPr>
        <p:spPr>
          <a:xfrm>
            <a:off x="10352540" y="295729"/>
            <a:ext cx="838199" cy="767687"/>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2215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7B6794-849E-4626-908B-D15793550EFB}" type="datetime1">
              <a:rPr lang="en-US" smtClean="0"/>
              <a:t>6/7/2026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87431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6/7/2026</a:t>
            </a:fld>
            <a:endParaRPr lang="en-US"/>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7963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462B0B-D248-4FFB-8695-AD7FA4B1284A}" type="datetime1">
              <a:rPr lang="en-US" smtClean="0"/>
              <a:t>6/7/2026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37038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78EFB-9159-4510-B73F-4F0409ADE937}" type="datetime1">
              <a:rPr lang="en-US" smtClean="0"/>
              <a:t>6/7/2026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5953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BC9412-2452-4BED-A324-9D8C115361AD}" type="datetime1">
              <a:rPr lang="en-US" smtClean="0"/>
              <a:t>6/7/2026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44776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6/7/2026</a:t>
            </a:fld>
            <a:endParaRPr lang="en-US"/>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9413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6/7/2026</a:t>
            </a:fld>
            <a:endParaRPr lang="en-US"/>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50265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6/7/2026</a:t>
            </a:fld>
            <a:endParaRPr lang="en-US"/>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44461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1BA835-12AC-4E8F-955A-EA3F4DE2791F}" type="datetime1">
              <a:rPr lang="en-US" smtClean="0"/>
              <a:t>6/7/2026</a:t>
            </a:fld>
            <a:endParaRPr lang="en-US"/>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8427228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6/7/2026</a:t>
            </a:fld>
            <a:endParaRPr lang="en-US"/>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6230849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6/7/2026</a:t>
            </a:fld>
            <a:endParaRPr lang="en-US"/>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498643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6/7/2026</a:t>
            </a:fld>
            <a:endParaRPr lang="en-US"/>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6738682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31BA835-12AC-4E8F-955A-EA3F4DE2791F}" type="datetime1">
              <a:rPr lang="en-US" smtClean="0"/>
              <a:t>6/7/2026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225214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31BA835-12AC-4E8F-955A-EA3F4DE2791F}" type="datetime1">
              <a:rPr lang="en-US" smtClean="0"/>
              <a:t>6/7/2026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200865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EC3C8B9C-477D-492A-96AD-1FC2CC997A73}" type="datetime1">
              <a:rPr lang="en-US" smtClean="0"/>
              <a:t>6/7/2026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67129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42D3AED5-E26D-4E29-B1B3-7847B6779594}" type="datetime1">
              <a:rPr lang="en-US" smtClean="0"/>
              <a:t>6/7/2026</a:t>
            </a:fld>
            <a:endParaRPr lang="en-US"/>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52374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E31BA835-12AC-4E8F-955A-EA3F4DE2791F}" type="datetime1">
              <a:rPr lang="en-US" smtClean="0"/>
              <a:t>6/7/2026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3544330537"/>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https://www.atlassian.com/agile/value-stream-management" TargetMode="External"/><Relationship Id="rId2" Type="http://schemas.openxmlformats.org/officeDocument/2006/relationships/hyperlink" Target="https://www.devopsinstitute.com/value-stream-management-explained-in-plain-english/"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planview.com/resources/articles/what-is-a-value-strea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9010126D-B9CA-7104-FFFE-81660D287CCC}"/>
              </a:ext>
            </a:extLst>
          </p:cNvPr>
          <p:cNvPicPr>
            <a:picLocks noChangeAspect="1"/>
          </p:cNvPicPr>
          <p:nvPr/>
        </p:nvPicPr>
        <p:blipFill>
          <a:blip r:embed="rId2"/>
          <a:srcRect t="22779" b="20972"/>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525289FE-6E8A-E1EF-C20C-E417A212364B}"/>
              </a:ext>
            </a:extLst>
          </p:cNvPr>
          <p:cNvSpPr>
            <a:spLocks noGrp="1"/>
          </p:cNvSpPr>
          <p:nvPr>
            <p:ph type="ctrTitle"/>
          </p:nvPr>
        </p:nvSpPr>
        <p:spPr>
          <a:xfrm>
            <a:off x="2159764" y="999451"/>
            <a:ext cx="7578596" cy="4171779"/>
          </a:xfrm>
        </p:spPr>
        <p:txBody>
          <a:bodyPr anchor="t">
            <a:normAutofit/>
          </a:bodyPr>
          <a:lstStyle/>
          <a:p>
            <a:r>
              <a:rPr lang="en-US" sz="6000" b="1" dirty="0">
                <a:solidFill>
                  <a:schemeClr val="tx1"/>
                </a:solidFill>
                <a:latin typeface="Times New Roman" panose="02020603050405020304" pitchFamily="18" charset="0"/>
                <a:cs typeface="Times New Roman" panose="02020603050405020304" pitchFamily="18" charset="0"/>
              </a:rPr>
              <a:t>The Technology Value Stream</a:t>
            </a:r>
          </a:p>
        </p:txBody>
      </p:sp>
      <p:sp>
        <p:nvSpPr>
          <p:cNvPr id="3" name="Subtitle 2">
            <a:extLst>
              <a:ext uri="{FF2B5EF4-FFF2-40B4-BE49-F238E27FC236}">
                <a16:creationId xmlns:a16="http://schemas.microsoft.com/office/drawing/2014/main" id="{E3610914-0B18-30A1-C39E-D2C4502BD279}"/>
              </a:ext>
            </a:extLst>
          </p:cNvPr>
          <p:cNvSpPr>
            <a:spLocks noGrp="1"/>
          </p:cNvSpPr>
          <p:nvPr>
            <p:ph type="subTitle" idx="1"/>
          </p:nvPr>
        </p:nvSpPr>
        <p:spPr>
          <a:xfrm>
            <a:off x="3718560" y="3936795"/>
            <a:ext cx="4754880" cy="1003638"/>
          </a:xfrm>
        </p:spPr>
        <p:txBody>
          <a:bodyPr anchor="b">
            <a:normAutofit/>
          </a:bodyPr>
          <a:lstStyle/>
          <a:p>
            <a:r>
              <a:rPr lang="en-US" sz="2200" dirty="0">
                <a:solidFill>
                  <a:srgbClr val="00B0F0"/>
                </a:solidFill>
                <a:latin typeface="Times New Roman" panose="02020603050405020304" pitchFamily="18" charset="0"/>
                <a:cs typeface="Times New Roman" panose="02020603050405020304" pitchFamily="18" charset="0"/>
              </a:rPr>
              <a:t>By: Colton Stone</a:t>
            </a:r>
          </a:p>
        </p:txBody>
      </p:sp>
    </p:spTree>
    <p:extLst>
      <p:ext uri="{BB962C8B-B14F-4D97-AF65-F5344CB8AC3E}">
        <p14:creationId xmlns:p14="http://schemas.microsoft.com/office/powerpoint/2010/main" val="366691641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2" name="Group 11">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3" name="Rectangle 12">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BCF98F93-CE58-EECE-1BBA-0900A00DFF31}"/>
              </a:ext>
            </a:extLst>
          </p:cNvPr>
          <p:cNvSpPr>
            <a:spLocks noGrp="1"/>
          </p:cNvSpPr>
          <p:nvPr>
            <p:ph type="title"/>
          </p:nvPr>
        </p:nvSpPr>
        <p:spPr>
          <a:xfrm>
            <a:off x="1154954" y="855481"/>
            <a:ext cx="8761413" cy="898674"/>
          </a:xfrm>
        </p:spPr>
        <p:txBody>
          <a:bodyPr anchor="b">
            <a:normAutofit/>
          </a:bodyPr>
          <a:lstStyle/>
          <a:p>
            <a:r>
              <a:rPr lang="en-US" dirty="0">
                <a:solidFill>
                  <a:schemeClr val="tx1"/>
                </a:solidFill>
                <a:latin typeface="Times New Roman" panose="02020603050405020304" pitchFamily="18" charset="0"/>
                <a:cs typeface="Times New Roman" panose="02020603050405020304" pitchFamily="18" charset="0"/>
              </a:rPr>
              <a:t>WHAT IS A VALUE STEAM?</a:t>
            </a:r>
          </a:p>
        </p:txBody>
      </p:sp>
      <p:sp>
        <p:nvSpPr>
          <p:cNvPr id="3" name="Content Placeholder 2">
            <a:extLst>
              <a:ext uri="{FF2B5EF4-FFF2-40B4-BE49-F238E27FC236}">
                <a16:creationId xmlns:a16="http://schemas.microsoft.com/office/drawing/2014/main" id="{FE2AE1D2-2683-A8F2-34A6-F6C1E416337B}"/>
              </a:ext>
            </a:extLst>
          </p:cNvPr>
          <p:cNvSpPr>
            <a:spLocks noGrp="1"/>
          </p:cNvSpPr>
          <p:nvPr>
            <p:ph idx="1"/>
          </p:nvPr>
        </p:nvSpPr>
        <p:spPr>
          <a:xfrm>
            <a:off x="1154954" y="2079173"/>
            <a:ext cx="8182191" cy="3730689"/>
          </a:xfrm>
        </p:spPr>
        <p:txBody>
          <a:bodyPr anchor="ctr">
            <a:normAutofit/>
          </a:bodyPr>
          <a:lstStyle/>
          <a:p>
            <a:pPr marL="0" indent="0">
              <a:lnSpc>
                <a:spcPct val="200000"/>
              </a:lnSpc>
              <a:buNone/>
            </a:pPr>
            <a:r>
              <a:rPr lang="en-US" dirty="0">
                <a:solidFill>
                  <a:schemeClr val="tx1"/>
                </a:solidFill>
                <a:latin typeface="Times New Roman" panose="02020603050405020304" pitchFamily="18" charset="0"/>
                <a:cs typeface="Times New Roman" panose="02020603050405020304" pitchFamily="18" charset="0"/>
              </a:rPr>
              <a:t>An value stream is the term applied to the series of actions taken to create and distribute a product or service which will be made available for public consumption by customers. In essence the value stream serves as an outline which details all the stages which must be hit to achieve the ideal finished concept of the product (Wong, n.d.).</a:t>
            </a:r>
          </a:p>
        </p:txBody>
      </p:sp>
    </p:spTree>
    <p:extLst>
      <p:ext uri="{BB962C8B-B14F-4D97-AF65-F5344CB8AC3E}">
        <p14:creationId xmlns:p14="http://schemas.microsoft.com/office/powerpoint/2010/main" val="161555847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37F81A2-D8CF-5C55-F727-EDBE9DC9851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D54A167-C5E9-A2CC-4578-BD0E898F2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6514D2E-5886-84D7-B3F4-7CA159194F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2" name="Group 11">
            <a:extLst>
              <a:ext uri="{FF2B5EF4-FFF2-40B4-BE49-F238E27FC236}">
                <a16:creationId xmlns:a16="http://schemas.microsoft.com/office/drawing/2014/main" id="{CF36E366-9686-A834-8367-FD9C5B8130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3" name="Rectangle 12">
              <a:extLst>
                <a:ext uri="{FF2B5EF4-FFF2-40B4-BE49-F238E27FC236}">
                  <a16:creationId xmlns:a16="http://schemas.microsoft.com/office/drawing/2014/main" id="{C00BF484-B588-27D4-8880-098039ECEA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7D5957BE-30FD-E3BF-B4A0-128AFB2FD16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09FFDC71-119B-555F-2C0B-BE118AED4613}"/>
              </a:ext>
            </a:extLst>
          </p:cNvPr>
          <p:cNvSpPr>
            <a:spLocks noGrp="1"/>
          </p:cNvSpPr>
          <p:nvPr>
            <p:ph type="title"/>
          </p:nvPr>
        </p:nvSpPr>
        <p:spPr>
          <a:xfrm>
            <a:off x="1154954" y="855481"/>
            <a:ext cx="8761413" cy="898674"/>
          </a:xfrm>
        </p:spPr>
        <p:txBody>
          <a:bodyPr anchor="b">
            <a:normAutofit fontScale="90000"/>
          </a:bodyPr>
          <a:lstStyle/>
          <a:p>
            <a:r>
              <a:rPr lang="en-US" b="1" dirty="0">
                <a:solidFill>
                  <a:schemeClr val="tx1"/>
                </a:solidFill>
                <a:latin typeface="Times New Roman" panose="02020603050405020304" pitchFamily="18" charset="0"/>
                <a:cs typeface="Times New Roman" panose="02020603050405020304" pitchFamily="18" charset="0"/>
              </a:rPr>
              <a:t>The Technology Value Stream Lead Time vs Processing</a:t>
            </a:r>
            <a:endParaRPr lang="en-US" dirty="0">
              <a:solidFill>
                <a:schemeClr val="tx1"/>
              </a:solidFill>
            </a:endParaRPr>
          </a:p>
        </p:txBody>
      </p:sp>
      <p:sp>
        <p:nvSpPr>
          <p:cNvPr id="3" name="Content Placeholder 2">
            <a:extLst>
              <a:ext uri="{FF2B5EF4-FFF2-40B4-BE49-F238E27FC236}">
                <a16:creationId xmlns:a16="http://schemas.microsoft.com/office/drawing/2014/main" id="{A9CB65C3-BECC-229D-8466-E526930D2F1F}"/>
              </a:ext>
            </a:extLst>
          </p:cNvPr>
          <p:cNvSpPr>
            <a:spLocks noGrp="1"/>
          </p:cNvSpPr>
          <p:nvPr>
            <p:ph idx="1"/>
          </p:nvPr>
        </p:nvSpPr>
        <p:spPr>
          <a:xfrm>
            <a:off x="1154954" y="2079173"/>
            <a:ext cx="8182191" cy="3730689"/>
          </a:xfrm>
        </p:spPr>
        <p:txBody>
          <a:bodyPr anchor="ctr">
            <a:normAutofit fontScale="85000" lnSpcReduction="20000"/>
          </a:bodyPr>
          <a:lstStyle/>
          <a:p>
            <a:pPr marL="0" indent="0">
              <a:lnSpc>
                <a:spcPct val="200000"/>
              </a:lnSpc>
              <a:buNone/>
            </a:pPr>
            <a:r>
              <a:rPr lang="en-US" dirty="0">
                <a:solidFill>
                  <a:schemeClr val="tx1"/>
                </a:solidFill>
                <a:latin typeface="Times New Roman" panose="02020603050405020304" pitchFamily="18" charset="0"/>
                <a:cs typeface="Times New Roman" panose="02020603050405020304" pitchFamily="18" charset="0"/>
              </a:rPr>
              <a:t>The</a:t>
            </a:r>
            <a:r>
              <a:rPr lang="en-US" i="1"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DevOps Handbook’ speaks on the concepts of lead and processing time with the former meaning when a request to work on something is written and the latter meaning when the actual work was began. </a:t>
            </a:r>
          </a:p>
          <a:p>
            <a:pPr marL="0" indent="0">
              <a:lnSpc>
                <a:spcPct val="200000"/>
              </a:lnSpc>
              <a:buNone/>
            </a:pPr>
            <a:endParaRPr lang="en-US" dirty="0">
              <a:solidFill>
                <a:schemeClr val="tx1"/>
              </a:solidFill>
              <a:latin typeface="Times New Roman" panose="02020603050405020304" pitchFamily="18" charset="0"/>
              <a:cs typeface="Times New Roman" panose="02020603050405020304" pitchFamily="18" charset="0"/>
            </a:endParaRPr>
          </a:p>
          <a:p>
            <a:pPr marL="0" indent="0">
              <a:lnSpc>
                <a:spcPct val="200000"/>
              </a:lnSpc>
              <a:buNone/>
            </a:pPr>
            <a:r>
              <a:rPr lang="en-US" dirty="0">
                <a:solidFill>
                  <a:schemeClr val="tx1"/>
                </a:solidFill>
                <a:latin typeface="Times New Roman" panose="02020603050405020304" pitchFamily="18" charset="0"/>
                <a:cs typeface="Times New Roman" panose="02020603050405020304" pitchFamily="18" charset="0"/>
              </a:rPr>
              <a:t>This leads into the topic of how to best handle the building of a project in that because certain tasks can remain in line for months, it can lead to problems down the road if the team discovers that the tasks do not merge well with others upon completing them. To mitigate this the authors of the textbox highly recommend making use of a version control repository and making your code as modular and well structured </a:t>
            </a:r>
            <a:r>
              <a:rPr lang="en-US">
                <a:solidFill>
                  <a:schemeClr val="tx1"/>
                </a:solidFill>
                <a:latin typeface="Times New Roman" panose="02020603050405020304" pitchFamily="18" charset="0"/>
                <a:cs typeface="Times New Roman" panose="02020603050405020304" pitchFamily="18" charset="0"/>
              </a:rPr>
              <a:t>as possible (</a:t>
            </a:r>
            <a:r>
              <a:rPr lang="en-US" dirty="0">
                <a:solidFill>
                  <a:schemeClr val="tx1"/>
                </a:solidFill>
                <a:latin typeface="Times New Roman" panose="02020603050405020304" pitchFamily="18" charset="0"/>
                <a:cs typeface="Times New Roman" panose="02020603050405020304" pitchFamily="18" charset="0"/>
              </a:rPr>
              <a:t>Kim, 2021).</a:t>
            </a:r>
          </a:p>
        </p:txBody>
      </p:sp>
    </p:spTree>
    <p:extLst>
      <p:ext uri="{BB962C8B-B14F-4D97-AF65-F5344CB8AC3E}">
        <p14:creationId xmlns:p14="http://schemas.microsoft.com/office/powerpoint/2010/main" val="4252694819"/>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6503EB0F-2257-4A3E-A73B-E1DE769B45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34" name="Rectangle 33">
              <a:extLst>
                <a:ext uri="{FF2B5EF4-FFF2-40B4-BE49-F238E27FC236}">
                  <a16:creationId xmlns:a16="http://schemas.microsoft.com/office/drawing/2014/main" id="{77012B2A-0D78-433A-8C68-8889D3DCD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5" name="Freeform 5">
              <a:extLst>
                <a:ext uri="{FF2B5EF4-FFF2-40B4-BE49-F238E27FC236}">
                  <a16:creationId xmlns:a16="http://schemas.microsoft.com/office/drawing/2014/main" id="{119D0202-ED3F-47CC-90E9-4E963BCDAB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37" name="Rectangle 36">
            <a:extLst>
              <a:ext uri="{FF2B5EF4-FFF2-40B4-BE49-F238E27FC236}">
                <a16:creationId xmlns:a16="http://schemas.microsoft.com/office/drawing/2014/main" id="{670D6F2B-93AF-47D6-9378-5E54BE0AC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59C5410-227E-D93B-60A2-505A524E87F9}"/>
              </a:ext>
            </a:extLst>
          </p:cNvPr>
          <p:cNvSpPr>
            <a:spLocks noGrp="1"/>
          </p:cNvSpPr>
          <p:nvPr>
            <p:ph type="title"/>
          </p:nvPr>
        </p:nvSpPr>
        <p:spPr>
          <a:xfrm>
            <a:off x="1154955" y="4834466"/>
            <a:ext cx="8825658" cy="1284979"/>
          </a:xfrm>
        </p:spPr>
        <p:txBody>
          <a:bodyPr vert="horz" lIns="91440" tIns="45720" rIns="91440" bIns="45720" rtlCol="0" anchor="b">
            <a:normAutofit/>
          </a:bodyPr>
          <a:lstStyle/>
          <a:p>
            <a:pPr>
              <a:lnSpc>
                <a:spcPct val="90000"/>
              </a:lnSpc>
            </a:pPr>
            <a:r>
              <a:rPr lang="en-US" dirty="0">
                <a:latin typeface="Times New Roman" panose="02020603050405020304" pitchFamily="18" charset="0"/>
                <a:cs typeface="Times New Roman" panose="02020603050405020304" pitchFamily="18" charset="0"/>
              </a:rPr>
              <a:t>An example of how the Value Steam Process works</a:t>
            </a:r>
          </a:p>
        </p:txBody>
      </p:sp>
      <p:pic>
        <p:nvPicPr>
          <p:cNvPr id="6" name="Picture Placeholder 5">
            <a:extLst>
              <a:ext uri="{FF2B5EF4-FFF2-40B4-BE49-F238E27FC236}">
                <a16:creationId xmlns:a16="http://schemas.microsoft.com/office/drawing/2014/main" id="{16A3504F-F4D3-9DB3-372A-E4A5B7D23C07}"/>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r="-1" b="7087"/>
          <a:stretch>
            <a:fillRect/>
          </a:stretch>
        </p:blipFill>
        <p:spPr>
          <a:xfrm>
            <a:off x="1154953" y="471949"/>
            <a:ext cx="8825659" cy="4100058"/>
          </a:xfrm>
          <a:prstGeom prst="rect">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751515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B939128-B6E5-7234-5538-FDC81F246AD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8AA0C5-F4F6-BF52-E8BB-985EC5147D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59F0549-4A68-30D4-C5CD-694AC3F4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2" name="Group 11">
            <a:extLst>
              <a:ext uri="{FF2B5EF4-FFF2-40B4-BE49-F238E27FC236}">
                <a16:creationId xmlns:a16="http://schemas.microsoft.com/office/drawing/2014/main" id="{EF251A78-79AF-24C1-29C2-0F7C474F4C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3" name="Rectangle 12">
              <a:extLst>
                <a:ext uri="{FF2B5EF4-FFF2-40B4-BE49-F238E27FC236}">
                  <a16:creationId xmlns:a16="http://schemas.microsoft.com/office/drawing/2014/main" id="{E49E6B31-393B-E736-EA2A-C99AB65D8B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A8EECDFE-BD0C-D41A-77BB-A285922137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6ADA5B2B-B74F-F64F-C0F6-AA25F5B60D19}"/>
              </a:ext>
            </a:extLst>
          </p:cNvPr>
          <p:cNvSpPr>
            <a:spLocks noGrp="1"/>
          </p:cNvSpPr>
          <p:nvPr>
            <p:ph type="title"/>
          </p:nvPr>
        </p:nvSpPr>
        <p:spPr>
          <a:xfrm>
            <a:off x="1154954" y="855481"/>
            <a:ext cx="8761413" cy="898674"/>
          </a:xfrm>
        </p:spPr>
        <p:txBody>
          <a:bodyPr anchor="b">
            <a:normAutofit/>
          </a:bodyPr>
          <a:lstStyle/>
          <a:p>
            <a:r>
              <a:rPr lang="en-US">
                <a:solidFill>
                  <a:schemeClr val="tx1"/>
                </a:solidFill>
              </a:rPr>
              <a:t>Citations</a:t>
            </a:r>
          </a:p>
        </p:txBody>
      </p:sp>
      <p:sp>
        <p:nvSpPr>
          <p:cNvPr id="3" name="Content Placeholder 2">
            <a:extLst>
              <a:ext uri="{FF2B5EF4-FFF2-40B4-BE49-F238E27FC236}">
                <a16:creationId xmlns:a16="http://schemas.microsoft.com/office/drawing/2014/main" id="{DAC3978C-1B93-40B4-CAE5-1AE0D785F4E1}"/>
              </a:ext>
            </a:extLst>
          </p:cNvPr>
          <p:cNvSpPr>
            <a:spLocks noGrp="1"/>
          </p:cNvSpPr>
          <p:nvPr>
            <p:ph idx="1"/>
          </p:nvPr>
        </p:nvSpPr>
        <p:spPr>
          <a:xfrm>
            <a:off x="1154954" y="2079173"/>
            <a:ext cx="8182191" cy="3730689"/>
          </a:xfrm>
        </p:spPr>
        <p:txBody>
          <a:bodyPr anchor="ctr">
            <a:normAutofit/>
          </a:bodyPr>
          <a:lstStyle/>
          <a:p>
            <a:r>
              <a:rPr lang="en-US" dirty="0">
                <a:solidFill>
                  <a:schemeClr val="tx1"/>
                </a:solidFill>
                <a:latin typeface="Times New Roman" panose="02020603050405020304" pitchFamily="18" charset="0"/>
                <a:cs typeface="Times New Roman" panose="02020603050405020304" pitchFamily="18" charset="0"/>
              </a:rPr>
              <a:t>Prakash, S. (n.d.).</a:t>
            </a:r>
          </a:p>
          <a:p>
            <a:r>
              <a:rPr lang="en-US" i="1" dirty="0">
                <a:solidFill>
                  <a:schemeClr val="tx1"/>
                </a:solidFill>
                <a:latin typeface="Times New Roman" panose="02020603050405020304" pitchFamily="18" charset="0"/>
                <a:cs typeface="Times New Roman" panose="02020603050405020304" pitchFamily="18" charset="0"/>
              </a:rPr>
              <a:t>Value Stream Management: Explained in Plain English</a:t>
            </a:r>
          </a:p>
          <a:p>
            <a:r>
              <a:rPr lang="en-US" dirty="0">
                <a:solidFill>
                  <a:schemeClr val="tx1"/>
                </a:solidFill>
                <a:latin typeface="Times New Roman" panose="02020603050405020304" pitchFamily="18" charset="0"/>
                <a:cs typeface="Times New Roman" panose="02020603050405020304" pitchFamily="18" charset="0"/>
                <a:hlinkClick r:id="rId2"/>
              </a:rPr>
              <a:t>https://www.devopsinstitute.com/value-stream-management-explained-in-plain-english/</a:t>
            </a:r>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r>
              <a:rPr lang="en-US" dirty="0"/>
              <a:t>Takakura, T. (n.d.).</a:t>
            </a:r>
            <a:endParaRPr lang="en-US" b="1" i="1"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What is Value stream management (VSM) and why is it important?</a:t>
            </a:r>
            <a:endParaRPr lang="en-US" i="1"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hlinkClick r:id="rId3"/>
              </a:rPr>
              <a:t>https://www.atlassian.com/agile/value-stream-management</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1317918"/>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824F0E1-028A-70B0-9534-53ACF567959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B4B3CB4-65EA-AFEF-D4A2-82D24D875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60B9A88-48FE-9DB7-E653-3825A9D27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2" name="Group 11">
            <a:extLst>
              <a:ext uri="{FF2B5EF4-FFF2-40B4-BE49-F238E27FC236}">
                <a16:creationId xmlns:a16="http://schemas.microsoft.com/office/drawing/2014/main" id="{E03C3693-7D79-14E5-45CB-49B079B6FD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3" name="Rectangle 12">
              <a:extLst>
                <a:ext uri="{FF2B5EF4-FFF2-40B4-BE49-F238E27FC236}">
                  <a16:creationId xmlns:a16="http://schemas.microsoft.com/office/drawing/2014/main" id="{9E3F5680-C36D-E349-CACE-621B49D130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37289676-E77B-12F2-7DFC-B878F82782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30BBBC59-16E9-4B3B-3842-BD2B88FFD3E9}"/>
              </a:ext>
            </a:extLst>
          </p:cNvPr>
          <p:cNvSpPr>
            <a:spLocks noGrp="1"/>
          </p:cNvSpPr>
          <p:nvPr>
            <p:ph type="title"/>
          </p:nvPr>
        </p:nvSpPr>
        <p:spPr>
          <a:xfrm>
            <a:off x="1154954" y="855481"/>
            <a:ext cx="8761413" cy="898674"/>
          </a:xfrm>
        </p:spPr>
        <p:txBody>
          <a:bodyPr anchor="b">
            <a:normAutofit/>
          </a:bodyPr>
          <a:lstStyle/>
          <a:p>
            <a:r>
              <a:rPr lang="en-US" dirty="0">
                <a:solidFill>
                  <a:schemeClr val="tx1"/>
                </a:solidFill>
              </a:rPr>
              <a:t>Citations (Cont.)</a:t>
            </a:r>
          </a:p>
        </p:txBody>
      </p:sp>
      <p:sp>
        <p:nvSpPr>
          <p:cNvPr id="3" name="Content Placeholder 2">
            <a:extLst>
              <a:ext uri="{FF2B5EF4-FFF2-40B4-BE49-F238E27FC236}">
                <a16:creationId xmlns:a16="http://schemas.microsoft.com/office/drawing/2014/main" id="{FA7D2237-7D39-987E-AE45-C11EFAC27942}"/>
              </a:ext>
            </a:extLst>
          </p:cNvPr>
          <p:cNvSpPr>
            <a:spLocks noGrp="1"/>
          </p:cNvSpPr>
          <p:nvPr>
            <p:ph idx="1"/>
          </p:nvPr>
        </p:nvSpPr>
        <p:spPr>
          <a:xfrm>
            <a:off x="1154954" y="2079173"/>
            <a:ext cx="8182191" cy="3730689"/>
          </a:xfrm>
        </p:spPr>
        <p:txBody>
          <a:bodyPr anchor="ctr">
            <a:normAutofit/>
          </a:bodyPr>
          <a:lstStyle/>
          <a:p>
            <a:r>
              <a:rPr lang="en-US" cap="all" dirty="0">
                <a:latin typeface="Times New Roman" panose="02020603050405020304" pitchFamily="18" charset="0"/>
                <a:cs typeface="Times New Roman" panose="02020603050405020304" pitchFamily="18" charset="0"/>
              </a:rPr>
              <a:t>WONG, m. (N.D.)</a:t>
            </a:r>
          </a:p>
          <a:p>
            <a:r>
              <a:rPr lang="en-US" cap="all" dirty="0">
                <a:latin typeface="Times New Roman" panose="02020603050405020304" pitchFamily="18" charset="0"/>
                <a:cs typeface="Times New Roman" panose="02020603050405020304" pitchFamily="18" charset="0"/>
              </a:rPr>
              <a:t>What is a Value Stream?</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hlinkClick r:id="rId2"/>
              </a:rPr>
              <a:t>https://www.planview.com/resources/articles/what-is-a-value-stream/</a:t>
            </a:r>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Kim, Gene, et al. </a:t>
            </a:r>
            <a:r>
              <a:rPr lang="en-US" i="1" dirty="0">
                <a:solidFill>
                  <a:schemeClr val="tx1"/>
                </a:solidFill>
                <a:latin typeface="Times New Roman" panose="02020603050405020304" pitchFamily="18" charset="0"/>
                <a:cs typeface="Times New Roman" panose="02020603050405020304" pitchFamily="18" charset="0"/>
              </a:rPr>
              <a:t>The DevOps Handbook, 2nd edition</a:t>
            </a:r>
            <a:r>
              <a:rPr lang="en-US" dirty="0">
                <a:solidFill>
                  <a:schemeClr val="tx1"/>
                </a:solidFill>
                <a:latin typeface="Times New Roman" panose="02020603050405020304" pitchFamily="18" charset="0"/>
                <a:cs typeface="Times New Roman" panose="02020603050405020304" pitchFamily="18" charset="0"/>
              </a:rPr>
              <a:t>. IT Revolution, 2021.</a:t>
            </a: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2553131"/>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297</TotalTime>
  <Words>334</Words>
  <Application>Microsoft Office PowerPoint</Application>
  <PresentationFormat>Widescreen</PresentationFormat>
  <Paragraphs>24</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Century Gothic</vt:lpstr>
      <vt:lpstr>Times New Roman</vt:lpstr>
      <vt:lpstr>Wingdings 3</vt:lpstr>
      <vt:lpstr>Ion Boardroom</vt:lpstr>
      <vt:lpstr>The Technology Value Stream</vt:lpstr>
      <vt:lpstr>WHAT IS A VALUE STEAM?</vt:lpstr>
      <vt:lpstr>The Technology Value Stream Lead Time vs Processing</vt:lpstr>
      <vt:lpstr>An example of how the Value Steam Process works</vt:lpstr>
      <vt:lpstr>Citations</vt:lpstr>
      <vt:lpstr>Citations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Colton</dc:creator>
  <cp:lastModifiedBy>Colton</cp:lastModifiedBy>
  <cp:revision>8</cp:revision>
  <dcterms:created xsi:type="dcterms:W3CDTF">2026-06-07T01:36:12Z</dcterms:created>
  <dcterms:modified xsi:type="dcterms:W3CDTF">2026-06-08T04:49:44Z</dcterms:modified>
</cp:coreProperties>
</file>