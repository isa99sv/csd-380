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0" r:id="rId4"/>
  </p:sldMasterIdLst>
  <p:notesMasterIdLst>
    <p:notesMasterId r:id="rId14"/>
  </p:notesMasterIdLst>
  <p:handoutMasterIdLst>
    <p:handoutMasterId r:id="rId15"/>
  </p:handoutMasterIdLst>
  <p:sldIdLst>
    <p:sldId id="258" r:id="rId5"/>
    <p:sldId id="267" r:id="rId6"/>
    <p:sldId id="273" r:id="rId7"/>
    <p:sldId id="269" r:id="rId8"/>
    <p:sldId id="268" r:id="rId9"/>
    <p:sldId id="271" r:id="rId10"/>
    <p:sldId id="272" r:id="rId11"/>
    <p:sldId id="261"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94660" autoAdjust="0"/>
  </p:normalViewPr>
  <p:slideViewPr>
    <p:cSldViewPr showGuides="1">
      <p:cViewPr varScale="1">
        <p:scale>
          <a:sx n="84" d="100"/>
          <a:sy n="84" d="100"/>
        </p:scale>
        <p:origin x="65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7/26/2026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948694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750563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814657-813A-4D7B-A2F8-E573BA1645D3}" type="datetime1">
              <a:rPr lang="en-US" smtClean="0"/>
              <a:t>7/26/2026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2788596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814657-813A-4D7B-A2F8-E573BA1645D3}" type="datetime1">
              <a:rPr lang="en-US" smtClean="0"/>
              <a:t>7/26/2026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252771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814657-813A-4D7B-A2F8-E573BA1645D3}" type="datetime1">
              <a:rPr lang="en-US" smtClean="0"/>
              <a:t>7/26/2026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8507372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B20C69-CB4E-44F7-A408-67C55627795C}" type="datetime1">
              <a:rPr lang="en-US" smtClean="0"/>
              <a:t>7/26/2026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93509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814657-813A-4D7B-A2F8-E573BA1645D3}" type="datetime1">
              <a:rPr lang="en-US" smtClean="0"/>
              <a:t>7/26/2026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654279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2A1522-8F1E-408E-ABA2-6F5B206582B8}" type="datetime1">
              <a:rPr lang="en-US" smtClean="0"/>
              <a:t>7/26/2026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32889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9A776-5AE6-4251-8560-C6066D0B46D6}" type="datetime1">
              <a:rPr lang="en-US" smtClean="0"/>
              <a:t>7/26/2026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998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967407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464695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05442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7/26/2026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450446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14657-813A-4D7B-A2F8-E573BA1645D3}" type="datetime1">
              <a:rPr lang="en-US" smtClean="0"/>
              <a:t>7/26/2026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71653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14657-813A-4D7B-A2F8-E573BA1645D3}" type="datetime1">
              <a:rPr lang="en-US" smtClean="0"/>
              <a:t>7/26/2026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260782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3306237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7/26/2026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8644803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179431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63133142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7/26/2026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7/26/2026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7/26/2026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7/26/2026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7/26/2026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7/26/2026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7/26/2026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7/26/2026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7/26/2026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7/26/2026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7/26/2026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7/26/2026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7/26/2026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7/26/2026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7/26/2026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7/26/2026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7/26/2026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7/26/2026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7/26/2026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7/26/2026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7/26/2026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814657-813A-4D7B-A2F8-E573BA1645D3}" type="datetime1">
              <a:rPr lang="en-US" smtClean="0"/>
              <a:t>7/26/2026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Sample Footer Text</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84950710"/>
      </p:ext>
    </p:extLst>
  </p:cSld>
  <p:clrMap bg1="dk1" tx1="lt1" bg2="dk2" tx2="lt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14" r:id="rId20"/>
    <p:sldLayoutId id="2147484116" r:id="rId21"/>
    <p:sldLayoutId id="2147484117" r:id="rId22"/>
    <p:sldLayoutId id="2147484118" r:id="rId23"/>
    <p:sldLayoutId id="2147484120" r:id="rId24"/>
    <p:sldLayoutId id="2147484121" r:id="rId25"/>
    <p:sldLayoutId id="2147484124" r:id="rId26"/>
    <p:sldLayoutId id="2147484125" r:id="rId27"/>
    <p:sldLayoutId id="2147484126" r:id="rId28"/>
    <p:sldLayoutId id="2147484129" r:id="rId29"/>
    <p:sldLayoutId id="2147484132" r:id="rId30"/>
    <p:sldLayoutId id="2147484133" r:id="rId31"/>
    <p:sldLayoutId id="2147484135" r:id="rId32"/>
    <p:sldLayoutId id="2147484136" r:id="rId33"/>
    <p:sldLayoutId id="2147484138" r:id="rId34"/>
    <p:sldLayoutId id="2147484139" r:id="rId35"/>
    <p:sldLayoutId id="2147484140" r:id="rId36"/>
    <p:sldLayoutId id="2147484141" r:id="rId37"/>
    <p:sldLayoutId id="2147484142" r:id="rId38"/>
    <p:sldLayoutId id="2147484143" r:id="rId39"/>
    <p:sldLayoutId id="2147484144" r:id="rId40"/>
    <p:sldLayoutId id="2147484145" r:id="rId41"/>
    <p:sldLayoutId id="2147484146" r:id="rId42"/>
    <p:sldLayoutId id="2147484147" r:id="rId43"/>
    <p:sldLayoutId id="2147484148" r:id="rId44"/>
    <p:sldLayoutId id="2147484149" r:id="rId45"/>
    <p:sldLayoutId id="2147484150" r:id="rId46"/>
    <p:sldLayoutId id="2147484152" r:id="rId47"/>
    <p:sldLayoutId id="2147484158" r:id="rId48"/>
    <p:sldLayoutId id="2147484159" r:id="rId49"/>
    <p:sldLayoutId id="2147484160" r:id="rId50"/>
    <p:sldLayoutId id="2147484162" r:id="rId51"/>
    <p:sldLayoutId id="2147484163" r:id="rId52"/>
    <p:sldLayoutId id="2147484165" r:id="rId53"/>
    <p:sldLayoutId id="2147484166" r:id="rId54"/>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get.assembla.com/blog/source-code-security/" TargetMode="External"/><Relationship Id="rId2" Type="http://schemas.openxmlformats.org/officeDocument/2006/relationships/hyperlink" Target="https://snyk.io/articles/securing-source-code-repositories/" TargetMode="Externa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hyperlink" Target="https://www.endpointprotector.com/blog/your-ultimate-guide-to-source-code-protection/" TargetMode="Externa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sz="8000" b="1" dirty="0">
                <a:effectLst/>
                <a:latin typeface="Times New Roman" panose="02020603050405020304" pitchFamily="18" charset="0"/>
                <a:cs typeface="Times New Roman" panose="02020603050405020304" pitchFamily="18" charset="0"/>
              </a:rPr>
              <a:t>Security Controls in Shared Source Code Repositories</a:t>
            </a:r>
            <a:br>
              <a:rPr lang="en-US" sz="8000" b="1" dirty="0">
                <a:effectLst/>
                <a:latin typeface="Times New Roman" panose="02020603050405020304" pitchFamily="18" charset="0"/>
                <a:cs typeface="Times New Roman" panose="02020603050405020304" pitchFamily="18" charset="0"/>
              </a:rPr>
            </a:br>
            <a:br>
              <a:rPr lang="en-US" sz="8000" b="1" dirty="0">
                <a:effectLst/>
                <a:latin typeface="Times New Roman" panose="02020603050405020304" pitchFamily="18" charset="0"/>
                <a:cs typeface="Times New Roman" panose="02020603050405020304" pitchFamily="18" charset="0"/>
              </a:rPr>
            </a:br>
            <a:endParaRPr lang="en-US" sz="8000" b="1"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612646" y="4953000"/>
            <a:ext cx="9144001" cy="1752600"/>
          </a:xfrm>
        </p:spPr>
        <p:txBody>
          <a:bodyPr>
            <a:noAutofit/>
          </a:bodyPr>
          <a:lstStyle/>
          <a:p>
            <a:pPr algn="ctr"/>
            <a:r>
              <a:rPr lang="en-US" sz="3200" dirty="0">
                <a:solidFill>
                  <a:schemeClr val="bg1"/>
                </a:solidFill>
                <a:latin typeface="Times New Roman" panose="02020603050405020304" pitchFamily="18" charset="0"/>
                <a:cs typeface="Times New Roman" panose="02020603050405020304" pitchFamily="18" charset="0"/>
              </a:rPr>
              <a:t>By Colton Stone</a:t>
            </a:r>
          </a:p>
          <a:p>
            <a:pPr algn="ctr"/>
            <a:r>
              <a:rPr lang="en-US" sz="3200" dirty="0">
                <a:solidFill>
                  <a:schemeClr val="bg1"/>
                </a:solidFill>
                <a:latin typeface="Times New Roman" panose="02020603050405020304" pitchFamily="18" charset="0"/>
                <a:cs typeface="Times New Roman" panose="02020603050405020304" pitchFamily="18" charset="0"/>
              </a:rPr>
              <a:t>Assignment 10.2</a:t>
            </a:r>
          </a:p>
          <a:p>
            <a:pPr algn="ctr"/>
            <a:r>
              <a:rPr lang="en-US" sz="3200" dirty="0">
                <a:solidFill>
                  <a:schemeClr val="bg1"/>
                </a:solidFill>
                <a:latin typeface="Times New Roman" panose="02020603050405020304" pitchFamily="18" charset="0"/>
                <a:cs typeface="Times New Roman" panose="02020603050405020304" pitchFamily="18" charset="0"/>
              </a:rPr>
              <a:t>July 26, 2026</a:t>
            </a:r>
          </a:p>
          <a:p>
            <a:pPr algn="ct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09C1-418A-4F1A-EE17-BEEEA011B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FF2A2-FFC7-424E-16A2-5FBC562F12D6}"/>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What Does it Mean?</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2ABEC1-4B4E-364E-28DF-4B0F5DF98C50}"/>
              </a:ext>
            </a:extLst>
          </p:cNvPr>
          <p:cNvSpPr>
            <a:spLocks noGrp="1"/>
          </p:cNvSpPr>
          <p:nvPr>
            <p:ph sz="quarter" idx="13"/>
          </p:nvPr>
        </p:nvSpPr>
        <p:spPr>
          <a:xfrm>
            <a:off x="609600" y="2895600"/>
            <a:ext cx="10972800" cy="4191000"/>
          </a:xfrm>
        </p:spPr>
        <p:txBody>
          <a:bodyPr/>
          <a:lstStyle/>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Having security for your shared source code repositories refers to the practice of implementing defensive measures into your system which will guard your private source code data against any potential threats, which is critical for protecting any application that you wish to develop along with the sanctuary of your team’s shared system</a:t>
            </a:r>
          </a:p>
          <a:p>
            <a:pPr>
              <a:lnSpc>
                <a:spcPct val="200000"/>
              </a:lnSpc>
            </a:pPr>
            <a:r>
              <a:rPr lang="en-US" sz="2000" dirty="0">
                <a:latin typeface="Times New Roman" panose="02020603050405020304" pitchFamily="18" charset="0"/>
                <a:cs typeface="Times New Roman" panose="02020603050405020304" pitchFamily="18" charset="0"/>
              </a:rPr>
              <a:t>(Tal, n.d.).</a:t>
            </a: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160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28E47-8509-8B12-B9C4-095243CFC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93FE9-5ABB-B863-8543-FCFAE0293E69}"/>
              </a:ext>
            </a:extLst>
          </p:cNvPr>
          <p:cNvSpPr>
            <a:spLocks noGrp="1"/>
          </p:cNvSpPr>
          <p:nvPr>
            <p:ph type="title"/>
          </p:nvPr>
        </p:nvSpPr>
        <p:spPr>
          <a:xfrm>
            <a:off x="609600" y="-457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Risks of Weak Defenses</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21A2E5-C697-D970-07AA-53F7306683FB}"/>
              </a:ext>
            </a:extLst>
          </p:cNvPr>
          <p:cNvSpPr>
            <a:spLocks noGrp="1"/>
          </p:cNvSpPr>
          <p:nvPr>
            <p:ph sz="quarter" idx="13"/>
          </p:nvPr>
        </p:nvSpPr>
        <p:spPr>
          <a:xfrm>
            <a:off x="609600" y="2209800"/>
            <a:ext cx="10972800" cy="4191000"/>
          </a:xfrm>
        </p:spPr>
        <p:txBody>
          <a:bodyPr/>
          <a:lstStyle/>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It is vital to protect your source code from threats who aim to damage it otherwise you will most likely suffer heavy consequences such as financial injury, data breaches, and irreversible harm to your reputation. </a:t>
            </a:r>
          </a:p>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It goes without saying that consumers and businesses alike will not want to work with someone who they cannot trust to even protect their own systems, and due to the increased governance on laws concerning data protection companies who fail to properly secure their files can face fines as well</a:t>
            </a:r>
          </a:p>
        </p:txBody>
      </p:sp>
    </p:spTree>
    <p:extLst>
      <p:ext uri="{BB962C8B-B14F-4D97-AF65-F5344CB8AC3E}">
        <p14:creationId xmlns:p14="http://schemas.microsoft.com/office/powerpoint/2010/main" val="4195540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0963-0FC8-8EE0-F21C-DE8B15C3A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222BB-CD12-AB4D-E379-6A44AF1A67F0}"/>
              </a:ext>
            </a:extLst>
          </p:cNvPr>
          <p:cNvSpPr>
            <a:spLocks noGrp="1"/>
          </p:cNvSpPr>
          <p:nvPr>
            <p:ph type="title"/>
          </p:nvPr>
        </p:nvSpPr>
        <p:spPr>
          <a:xfrm>
            <a:off x="609600" y="-457200"/>
            <a:ext cx="10972800" cy="1371600"/>
          </a:xfrm>
        </p:spPr>
        <p:txBody>
          <a:bodyPr/>
          <a:lstStyle/>
          <a:p>
            <a:r>
              <a:rPr lang="en-US" sz="4000" b="1" dirty="0">
                <a:latin typeface="Times New Roman" panose="02020603050405020304" pitchFamily="18" charset="0"/>
                <a:cs typeface="Times New Roman" panose="02020603050405020304" pitchFamily="18" charset="0"/>
              </a:rPr>
              <a:t>Risks of Weak Defenses (Cont.)</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8C12B1-DD8C-7257-0B1A-089A18859942}"/>
              </a:ext>
            </a:extLst>
          </p:cNvPr>
          <p:cNvSpPr>
            <a:spLocks noGrp="1"/>
          </p:cNvSpPr>
          <p:nvPr>
            <p:ph sz="quarter" idx="13"/>
          </p:nvPr>
        </p:nvSpPr>
        <p:spPr>
          <a:xfrm>
            <a:off x="609600" y="2209800"/>
            <a:ext cx="10972800" cy="4191000"/>
          </a:xfrm>
        </p:spPr>
        <p:txBody>
          <a:bodyPr/>
          <a:lstStyle/>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There have also been known cases of companies having their data leaked and rival businesses using that to gain an edge over them in the competitive market and thus hurting their finances even further</a:t>
            </a:r>
          </a:p>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a:t>
            </a:r>
            <a:r>
              <a:rPr lang="en-US" sz="2000" dirty="0">
                <a:effectLst/>
                <a:latin typeface="Times New Roman" panose="02020603050405020304" pitchFamily="18" charset="0"/>
                <a:cs typeface="Times New Roman" panose="02020603050405020304" pitchFamily="18" charset="0"/>
              </a:rPr>
              <a:t>Berecki, 2022; </a:t>
            </a:r>
            <a:r>
              <a:rPr lang="en-US" sz="2000" dirty="0">
                <a:latin typeface="Times New Roman" panose="02020603050405020304" pitchFamily="18" charset="0"/>
                <a:cs typeface="Times New Roman" panose="02020603050405020304" pitchFamily="18" charset="0"/>
              </a:rPr>
              <a:t>Fernandes, 2025</a:t>
            </a:r>
            <a:r>
              <a:rPr lang="en-US" sz="2000" dirty="0">
                <a:effectLst/>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2023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FADA4-28D5-3388-EFAD-0B080502A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81712-D20F-907C-098C-FA4E0651FE5B}"/>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Steps to Secure Code</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514FDE-EAB7-BBB6-A1B7-A6C1B98CB402}"/>
              </a:ext>
            </a:extLst>
          </p:cNvPr>
          <p:cNvSpPr>
            <a:spLocks noGrp="1"/>
          </p:cNvSpPr>
          <p:nvPr>
            <p:ph sz="quarter" idx="13"/>
          </p:nvPr>
        </p:nvSpPr>
        <p:spPr>
          <a:xfrm>
            <a:off x="609600" y="2209800"/>
            <a:ext cx="10972800" cy="4191000"/>
          </a:xfrm>
        </p:spPr>
        <p:txBody>
          <a:bodyPr/>
          <a:lstStyle/>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To protect your source code experts recommend:</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Writing a source code protection policy which clearly describes a list of rules to properly handle code </a:t>
            </a:r>
            <a:r>
              <a:rPr lang="en-US" sz="2000">
                <a:solidFill>
                  <a:schemeClr val="tx1"/>
                </a:solidFill>
                <a:latin typeface="Times New Roman" panose="02020603050405020304" pitchFamily="18" charset="0"/>
                <a:cs typeface="Times New Roman" panose="02020603050405020304" pitchFamily="18" charset="0"/>
              </a:rPr>
              <a:t>and include </a:t>
            </a:r>
            <a:r>
              <a:rPr lang="en-US" sz="2000" dirty="0">
                <a:solidFill>
                  <a:schemeClr val="tx1"/>
                </a:solidFill>
                <a:latin typeface="Times New Roman" panose="02020603050405020304" pitchFamily="18" charset="0"/>
                <a:cs typeface="Times New Roman" panose="02020603050405020304" pitchFamily="18" charset="0"/>
              </a:rPr>
              <a:t>documentation and training policies for secure coding practices</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Make use of source code security analysis tools to discover weaknesses in the code as early as possible </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Set authorization protocols to decide who is or is not allowed to access sensitive files</a:t>
            </a:r>
          </a:p>
        </p:txBody>
      </p:sp>
    </p:spTree>
    <p:extLst>
      <p:ext uri="{BB962C8B-B14F-4D97-AF65-F5344CB8AC3E}">
        <p14:creationId xmlns:p14="http://schemas.microsoft.com/office/powerpoint/2010/main" val="132047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6E29-8745-ED23-A663-B79F6719A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D1619-888F-78C5-737D-E4337DB2370F}"/>
              </a:ext>
            </a:extLst>
          </p:cNvPr>
          <p:cNvSpPr>
            <a:spLocks noGrp="1"/>
          </p:cNvSpPr>
          <p:nvPr>
            <p:ph type="title"/>
          </p:nvPr>
        </p:nvSpPr>
        <p:spPr>
          <a:xfrm>
            <a:off x="609600" y="76200"/>
            <a:ext cx="10972800" cy="1371600"/>
          </a:xfrm>
        </p:spPr>
        <p:txBody>
          <a:bodyPr/>
          <a:lstStyle/>
          <a:p>
            <a:r>
              <a:rPr lang="en-US" sz="4000" b="1" dirty="0">
                <a:latin typeface="Times New Roman" panose="02020603050405020304" pitchFamily="18" charset="0"/>
                <a:cs typeface="Times New Roman" panose="02020603050405020304" pitchFamily="18" charset="0"/>
              </a:rPr>
              <a:t>Steps to Secure Code (Cont.)</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5A53D7-B3D4-5919-8681-58BB645E5A5A}"/>
              </a:ext>
            </a:extLst>
          </p:cNvPr>
          <p:cNvSpPr>
            <a:spLocks noGrp="1"/>
          </p:cNvSpPr>
          <p:nvPr>
            <p:ph sz="quarter" idx="13"/>
          </p:nvPr>
        </p:nvSpPr>
        <p:spPr>
          <a:xfrm>
            <a:off x="609600" y="2209800"/>
            <a:ext cx="10972800" cy="4191000"/>
          </a:xfrm>
        </p:spPr>
        <p:txBody>
          <a:bodyPr/>
          <a:lstStyle/>
          <a:p>
            <a:pPr marL="342900" indent="-342900">
              <a:lnSpc>
                <a:spcPct val="200000"/>
              </a:lnSpc>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Routinely review permissions granted to users in the system and do updates when appropriate</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Add two-factor authentication or multi-factor authentication as an extra security layer for your code</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Always encrypt private data as well as have it consistently monitored in case any suspicious activity is found</a:t>
            </a:r>
          </a:p>
          <a:p>
            <a:pPr marL="342900" indent="-342900">
              <a:lnSpc>
                <a:spcPct val="200000"/>
              </a:lnSpc>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593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FE5B-A78C-99F8-A9E7-C67489034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9F440-C982-5B20-64E3-24EFA1B28D0F}"/>
              </a:ext>
            </a:extLst>
          </p:cNvPr>
          <p:cNvSpPr>
            <a:spLocks noGrp="1"/>
          </p:cNvSpPr>
          <p:nvPr>
            <p:ph type="title"/>
          </p:nvPr>
        </p:nvSpPr>
        <p:spPr>
          <a:xfrm>
            <a:off x="609600" y="76200"/>
            <a:ext cx="10972800" cy="1371600"/>
          </a:xfrm>
        </p:spPr>
        <p:txBody>
          <a:bodyPr/>
          <a:lstStyle/>
          <a:p>
            <a:r>
              <a:rPr lang="en-US" sz="4000" b="1" dirty="0">
                <a:latin typeface="Times New Roman" panose="02020603050405020304" pitchFamily="18" charset="0"/>
                <a:cs typeface="Times New Roman" panose="02020603050405020304" pitchFamily="18" charset="0"/>
              </a:rPr>
              <a:t>Steps to Secure Code (</a:t>
            </a:r>
            <a:r>
              <a:rPr lang="en-US" sz="4000" b="1" dirty="0">
                <a:effectLst/>
                <a:latin typeface="Times New Roman" panose="02020603050405020304" pitchFamily="18" charset="0"/>
                <a:cs typeface="Times New Roman" panose="02020603050405020304" pitchFamily="18" charset="0"/>
              </a:rPr>
              <a:t>Cont'd</a:t>
            </a:r>
            <a:r>
              <a:rPr lang="en-US" sz="4000" b="1"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D43F6E-F549-89CB-B7B2-EF827373AFD8}"/>
              </a:ext>
            </a:extLst>
          </p:cNvPr>
          <p:cNvSpPr>
            <a:spLocks noGrp="1"/>
          </p:cNvSpPr>
          <p:nvPr>
            <p:ph sz="quarter" idx="13"/>
          </p:nvPr>
        </p:nvSpPr>
        <p:spPr>
          <a:xfrm>
            <a:off x="609600" y="2057400"/>
            <a:ext cx="10972800" cy="4191000"/>
          </a:xfrm>
        </p:spPr>
        <p:txBody>
          <a:bodyPr/>
          <a:lstStyle/>
          <a:p>
            <a:pPr marL="342900" indent="-342900">
              <a:lnSpc>
                <a:spcPct val="200000"/>
              </a:lnSpc>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Use network security tools (</a:t>
            </a:r>
            <a:r>
              <a:rPr lang="en-US" sz="2000" dirty="0">
                <a:effectLst/>
                <a:latin typeface="Times New Roman" panose="02020603050405020304" pitchFamily="18" charset="0"/>
                <a:cs typeface="Times New Roman" panose="02020603050405020304" pitchFamily="18" charset="0"/>
              </a:rPr>
              <a:t>i.e., </a:t>
            </a:r>
            <a:r>
              <a:rPr lang="en-US" sz="2000" dirty="0" err="1">
                <a:effectLst/>
                <a:latin typeface="Times New Roman" panose="02020603050405020304" pitchFamily="18" charset="0"/>
                <a:cs typeface="Times New Roman" panose="02020603050405020304" pitchFamily="18" charset="0"/>
              </a:rPr>
              <a:t>Virutal</a:t>
            </a:r>
            <a:r>
              <a:rPr lang="en-US" sz="2000" dirty="0">
                <a:effectLst/>
                <a:latin typeface="Times New Roman" panose="02020603050405020304" pitchFamily="18" charset="0"/>
                <a:cs typeface="Times New Roman" panose="02020603050405020304" pitchFamily="18" charset="0"/>
              </a:rPr>
              <a:t> Private Networks or anti-virus software)</a:t>
            </a:r>
            <a:r>
              <a:rPr lang="en-US" sz="2000" dirty="0">
                <a:solidFill>
                  <a:schemeClr val="tx1"/>
                </a:solidFill>
                <a:latin typeface="Times New Roman" panose="02020603050405020304" pitchFamily="18" charset="0"/>
                <a:cs typeface="Times New Roman" panose="02020603050405020304" pitchFamily="18" charset="0"/>
              </a:rPr>
              <a:t> to add an additional layer of protection on top of your other measures </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Do not hardcode your sensitive information (such as passwords or private keys) directly into the source code</a:t>
            </a:r>
          </a:p>
          <a:p>
            <a:pPr marL="342900" indent="-342900">
              <a:lnSpc>
                <a:spcPct val="200000"/>
              </a:lnSpc>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And lastly ensure that your creations have legal protections such as patents and copyright measures</a:t>
            </a:r>
          </a:p>
          <a:p>
            <a:pPr>
              <a:lnSpc>
                <a:spcPct val="200000"/>
              </a:lnSpc>
            </a:pPr>
            <a:r>
              <a:rPr lang="en-US" sz="2000" dirty="0">
                <a:latin typeface="Times New Roman" panose="02020603050405020304" pitchFamily="18" charset="0"/>
                <a:cs typeface="Times New Roman" panose="02020603050405020304" pitchFamily="18" charset="0"/>
              </a:rPr>
              <a:t>(Tal, n.d.; </a:t>
            </a:r>
            <a:r>
              <a:rPr lang="en-US" sz="2000" dirty="0">
                <a:effectLst/>
                <a:latin typeface="Times New Roman" panose="02020603050405020304" pitchFamily="18" charset="0"/>
                <a:cs typeface="Times New Roman" panose="02020603050405020304" pitchFamily="18" charset="0"/>
              </a:rPr>
              <a:t>Berecki, 2022; </a:t>
            </a:r>
            <a:r>
              <a:rPr lang="en-US" sz="2000" dirty="0">
                <a:latin typeface="Times New Roman" panose="02020603050405020304" pitchFamily="18" charset="0"/>
                <a:cs typeface="Times New Roman" panose="02020603050405020304" pitchFamily="18" charset="0"/>
              </a:rPr>
              <a:t>Fernandes, 2025</a:t>
            </a:r>
            <a:r>
              <a:rPr lang="en-US" sz="2000" dirty="0">
                <a:effectLst/>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916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76D1-F847-24B7-D217-27ED502F5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F6D3F-9688-CEBC-4053-5F4A16C023DF}"/>
              </a:ext>
            </a:extLst>
          </p:cNvPr>
          <p:cNvSpPr>
            <a:spLocks noGrp="1"/>
          </p:cNvSpPr>
          <p:nvPr>
            <p:ph type="title"/>
          </p:nvPr>
        </p:nvSpPr>
        <p:spPr>
          <a:xfrm>
            <a:off x="609600" y="76200"/>
            <a:ext cx="10972800" cy="1371600"/>
          </a:xfrm>
        </p:spPr>
        <p:txBody>
          <a:bodyPr/>
          <a:lstStyle/>
          <a:p>
            <a:pPr algn="ctr"/>
            <a:r>
              <a:rPr lang="en-US" sz="4000" dirty="0">
                <a:latin typeface="Times New Roman" panose="02020603050405020304" pitchFamily="18" charset="0"/>
                <a:cs typeface="Times New Roman" panose="02020603050405020304" pitchFamily="18" charset="0"/>
              </a:rPr>
              <a:t>Citations</a:t>
            </a:r>
          </a:p>
        </p:txBody>
      </p:sp>
      <p:sp>
        <p:nvSpPr>
          <p:cNvPr id="3" name="Content Placeholder 2">
            <a:extLst>
              <a:ext uri="{FF2B5EF4-FFF2-40B4-BE49-F238E27FC236}">
                <a16:creationId xmlns:a16="http://schemas.microsoft.com/office/drawing/2014/main" id="{45E39FE7-E084-CB2F-4C11-7E67DD83F224}"/>
              </a:ext>
            </a:extLst>
          </p:cNvPr>
          <p:cNvSpPr>
            <a:spLocks noGrp="1"/>
          </p:cNvSpPr>
          <p:nvPr>
            <p:ph sz="quarter" idx="13"/>
          </p:nvPr>
        </p:nvSpPr>
        <p:spPr>
          <a:xfrm>
            <a:off x="304800" y="1295400"/>
            <a:ext cx="10972800" cy="3962400"/>
          </a:xfrm>
        </p:spPr>
        <p:txBody>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Tal, L. (n.d.).</a:t>
            </a:r>
          </a:p>
          <a:p>
            <a:r>
              <a:rPr lang="en-US" sz="2000" b="1" dirty="0">
                <a:effectLst/>
                <a:latin typeface="Times New Roman" panose="02020603050405020304" pitchFamily="18" charset="0"/>
                <a:cs typeface="Times New Roman" panose="02020603050405020304" pitchFamily="18" charset="0"/>
              </a:rPr>
              <a:t>Securing Source Code in Repositories is Essential: How To Get Started</a:t>
            </a:r>
          </a:p>
          <a:p>
            <a:r>
              <a:rPr lang="en-US" sz="2000" dirty="0">
                <a:latin typeface="Times New Roman" panose="02020603050405020304" pitchFamily="18" charset="0"/>
                <a:cs typeface="Times New Roman" panose="02020603050405020304" pitchFamily="18" charset="0"/>
                <a:hlinkClick r:id="rId2"/>
              </a:rPr>
              <a:t>https://snyk.io/articles/securing-source-code-repositories/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Fernandes, C. (2025, April 6).</a:t>
            </a:r>
          </a:p>
          <a:p>
            <a:r>
              <a:rPr lang="en-US" sz="2000" dirty="0">
                <a:effectLst/>
                <a:latin typeface="Times New Roman" panose="02020603050405020304" pitchFamily="18" charset="0"/>
                <a:cs typeface="Times New Roman" panose="02020603050405020304" pitchFamily="18" charset="0"/>
              </a:rPr>
              <a:t>Source Code Security Best Practices: A Complete Guide</a:t>
            </a:r>
          </a:p>
          <a:p>
            <a:r>
              <a:rPr lang="en-US" sz="2000" dirty="0">
                <a:latin typeface="Times New Roman" panose="02020603050405020304" pitchFamily="18" charset="0"/>
                <a:cs typeface="Times New Roman" panose="02020603050405020304" pitchFamily="18" charset="0"/>
                <a:hlinkClick r:id="rId3"/>
              </a:rPr>
              <a:t>https://get.assembla.com/blog/source-code-security/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806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5D387-C08E-E639-C899-FE747F49A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C631E-10B3-92C9-5C1E-BD9468A834D4}"/>
              </a:ext>
            </a:extLst>
          </p:cNvPr>
          <p:cNvSpPr>
            <a:spLocks noGrp="1"/>
          </p:cNvSpPr>
          <p:nvPr>
            <p:ph type="title"/>
          </p:nvPr>
        </p:nvSpPr>
        <p:spPr>
          <a:xfrm>
            <a:off x="609600" y="76200"/>
            <a:ext cx="10972800" cy="1371600"/>
          </a:xfrm>
        </p:spPr>
        <p:txBody>
          <a:bodyPr/>
          <a:lstStyle/>
          <a:p>
            <a:pPr algn="ctr"/>
            <a:r>
              <a:rPr lang="en-US" sz="4000" dirty="0">
                <a:latin typeface="Times New Roman" panose="02020603050405020304" pitchFamily="18" charset="0"/>
                <a:cs typeface="Times New Roman" panose="02020603050405020304" pitchFamily="18" charset="0"/>
              </a:rPr>
              <a:t>Citations (Cont.)</a:t>
            </a:r>
          </a:p>
        </p:txBody>
      </p:sp>
      <p:sp>
        <p:nvSpPr>
          <p:cNvPr id="3" name="Content Placeholder 2">
            <a:extLst>
              <a:ext uri="{FF2B5EF4-FFF2-40B4-BE49-F238E27FC236}">
                <a16:creationId xmlns:a16="http://schemas.microsoft.com/office/drawing/2014/main" id="{43F2EC03-2F9E-C62C-7991-3EB8977D5273}"/>
              </a:ext>
            </a:extLst>
          </p:cNvPr>
          <p:cNvSpPr>
            <a:spLocks noGrp="1"/>
          </p:cNvSpPr>
          <p:nvPr>
            <p:ph sz="quarter" idx="13"/>
          </p:nvPr>
        </p:nvSpPr>
        <p:spPr>
          <a:xfrm>
            <a:off x="304800" y="1295400"/>
            <a:ext cx="10972800" cy="3962400"/>
          </a:xfrm>
        </p:spPr>
        <p:txBody>
          <a:bodyPr/>
          <a:lstStyle/>
          <a:p>
            <a:pPr>
              <a:lnSpc>
                <a:spcPct val="150000"/>
              </a:lnSpc>
            </a:pPr>
            <a:endParaRPr lang="en-US" sz="2000" b="1" i="1" dirty="0">
              <a:effectLst/>
              <a:latin typeface="Times New Roman" panose="02020603050405020304" pitchFamily="18" charset="0"/>
              <a:cs typeface="Times New Roman" panose="02020603050405020304" pitchFamily="18" charset="0"/>
            </a:endParaRPr>
          </a:p>
          <a:p>
            <a:pPr>
              <a:lnSpc>
                <a:spcPct val="150000"/>
              </a:lnSpc>
            </a:pPr>
            <a:endParaRPr lang="en-US" sz="2000" b="1" i="1" dirty="0">
              <a:effectLst/>
              <a:latin typeface="Times New Roman" panose="02020603050405020304" pitchFamily="18" charset="0"/>
              <a:cs typeface="Times New Roman" panose="02020603050405020304" pitchFamily="18" charset="0"/>
            </a:endParaRPr>
          </a:p>
          <a:p>
            <a:pPr>
              <a:lnSpc>
                <a:spcPct val="150000"/>
              </a:lnSpc>
            </a:pPr>
            <a:endParaRPr lang="en-US" sz="2000" b="1" i="1" dirty="0">
              <a:effectLst/>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Berecki, B. (2022, April 8).</a:t>
            </a:r>
          </a:p>
          <a:p>
            <a:r>
              <a:rPr lang="en-US" sz="2000" b="1" i="1" dirty="0">
                <a:effectLst/>
                <a:latin typeface="Times New Roman" panose="02020603050405020304" pitchFamily="18" charset="0"/>
                <a:cs typeface="Times New Roman" panose="02020603050405020304" pitchFamily="18" charset="0"/>
              </a:rPr>
              <a:t>Best Practices for Source Code Security</a:t>
            </a:r>
          </a:p>
          <a:p>
            <a:r>
              <a:rPr lang="en-US" sz="2000" b="1" i="1" dirty="0">
                <a:effectLst/>
                <a:latin typeface="Times New Roman" panose="02020603050405020304" pitchFamily="18" charset="0"/>
                <a:cs typeface="Times New Roman" panose="02020603050405020304" pitchFamily="18" charset="0"/>
                <a:hlinkClick r:id="rId2"/>
              </a:rPr>
              <a:t>https://www.endpointprotector.com/blog/your-ultimate-guide-to-source-code-protection/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Kim, Gene, et al. </a:t>
            </a:r>
            <a:r>
              <a:rPr lang="en-US" sz="2000" i="1" dirty="0">
                <a:latin typeface="Times New Roman" panose="02020603050405020304" pitchFamily="18" charset="0"/>
                <a:cs typeface="Times New Roman" panose="02020603050405020304" pitchFamily="18" charset="0"/>
              </a:rPr>
              <a:t>The DevOps Handbook, 2nd edition</a:t>
            </a:r>
            <a:r>
              <a:rPr lang="en-US" sz="2000" dirty="0">
                <a:latin typeface="Times New Roman" panose="02020603050405020304" pitchFamily="18" charset="0"/>
                <a:cs typeface="Times New Roman" panose="02020603050405020304" pitchFamily="18" charset="0"/>
              </a:rPr>
              <a:t>. IT Revolution, 2021.</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5194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purl.org/dc/dcmitype/"/>
    <ds:schemaRef ds:uri="71af3243-3dd4-4a8d-8c0d-dd76da1f02a5"/>
    <ds:schemaRef ds:uri="http://www.w3.org/XML/1998/namespace"/>
    <ds:schemaRef ds:uri="http://purl.org/dc/term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230e9df3-be65-4c73-a93b-d1236ebd677e"/>
    <ds:schemaRef ds:uri="16c05727-aa75-4e4a-9b5f-8a80a1165891"/>
    <ds:schemaRef ds:uri="http://schemas.microsoft.com/sharepoint/v3"/>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TM04033929[[fn=Slate]]</Template>
  <TotalTime>1404</TotalTime>
  <Words>553</Words>
  <Application>Microsoft Office PowerPoint</Application>
  <PresentationFormat>Widescreen</PresentationFormat>
  <Paragraphs>55</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Calisto MT</vt:lpstr>
      <vt:lpstr>Times New Roman</vt:lpstr>
      <vt:lpstr>Wingdings</vt:lpstr>
      <vt:lpstr>Wingdings 2</vt:lpstr>
      <vt:lpstr>Slate</vt:lpstr>
      <vt:lpstr>Security Controls in Shared Source Code Repositories  </vt:lpstr>
      <vt:lpstr>What Does it Mean?</vt:lpstr>
      <vt:lpstr>Risks of Weak Defenses</vt:lpstr>
      <vt:lpstr>Risks of Weak Defenses (Cont.)</vt:lpstr>
      <vt:lpstr>Steps to Secure Code</vt:lpstr>
      <vt:lpstr>Steps to Secure Code (Cont.)</vt:lpstr>
      <vt:lpstr>Steps to Secure Code (Cont'd.)</vt:lpstr>
      <vt:lpstr>Citations</vt:lpstr>
      <vt:lpstr>Citations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Colton</dc:creator>
  <cp:lastModifiedBy>Colton</cp:lastModifiedBy>
  <cp:revision>61</cp:revision>
  <dcterms:created xsi:type="dcterms:W3CDTF">2026-07-12T16:33:23Z</dcterms:created>
  <dcterms:modified xsi:type="dcterms:W3CDTF">2026-07-26T21:15:48Z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